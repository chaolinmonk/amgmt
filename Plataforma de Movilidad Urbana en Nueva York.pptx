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embeddedFontLst>
    <p:embeddedFont>
      <p:font typeface="Inter" panose="020B0604020202020204" charset="0"/>
      <p:regular r:id="rId11"/>
      <p:bold r:id="rId12"/>
      <p:italic r:id="rId13"/>
      <p:boldItalic r:id="rId14"/>
    </p:embeddedFont>
    <p:embeddedFont>
      <p:font typeface="Plus Jakarta Sans" panose="020B0604020202020204" charset="0"/>
      <p:regular r:id="rId15"/>
      <p:bold r:id="rId16"/>
      <p:italic r:id="rId17"/>
      <p:boldItalic r:id="rId1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FDD4B396-56EB-484C-B8F5-0F5581E8F6A3}">
  <a:tblStyle styleId="{FDD4B396-56EB-484C-B8F5-0F5581E8F6A3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tcBdr/>
        <a:fill>
          <a:solidFill>
            <a:srgbClr val="CFD7E7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FD7E7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9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3.fntdata"/><Relationship Id="rId18" Type="http://schemas.openxmlformats.org/officeDocument/2006/relationships/font" Target="fonts/font8.fntdata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font" Target="fonts/font7.fntdata"/><Relationship Id="rId2" Type="http://schemas.openxmlformats.org/officeDocument/2006/relationships/slide" Target="slides/slide1.xml"/><Relationship Id="rId16" Type="http://schemas.openxmlformats.org/officeDocument/2006/relationships/font" Target="fonts/font6.fntdata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5" Type="http://schemas.openxmlformats.org/officeDocument/2006/relationships/slide" Target="slides/slide4.xml"/><Relationship Id="rId15" Type="http://schemas.openxmlformats.org/officeDocument/2006/relationships/font" Target="fonts/font5.fntdata"/><Relationship Id="rId10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4.fntdata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" name="Google Shape;92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8" name="Google Shape;108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6" name="Google Shape;126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4" name="Google Shape;144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3" name="Google Shape;163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5" name="Google Shape;185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4" name="Google Shape;204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1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Relationship Id="rId9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571500" y="571500"/>
            <a:ext cx="5550693" cy="971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F8FAF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Plataforma de Movilidad Urbana en NY</a:t>
            </a:r>
            <a:endParaRPr/>
          </a:p>
        </p:txBody>
      </p:sp>
      <p:pic>
        <p:nvPicPr>
          <p:cNvPr id="86" name="Google Shape;86;p1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34125" y="0"/>
            <a:ext cx="585787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13"/>
          <p:cNvSpPr txBox="1"/>
          <p:nvPr/>
        </p:nvSpPr>
        <p:spPr>
          <a:xfrm>
            <a:off x="571500" y="3109912"/>
            <a:ext cx="5286375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Autor:</a:t>
            </a:r>
            <a:r>
              <a:rPr lang="en-US" sz="135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Diego Quioza</a:t>
            </a:r>
            <a:endParaRPr/>
          </a:p>
        </p:txBody>
      </p:sp>
      <p:sp>
        <p:nvSpPr>
          <p:cNvPr id="88" name="Google Shape;88;p13"/>
          <p:cNvSpPr txBox="1"/>
          <p:nvPr/>
        </p:nvSpPr>
        <p:spPr>
          <a:xfrm>
            <a:off x="571500" y="3527077"/>
            <a:ext cx="5286375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Fecha:</a:t>
            </a:r>
            <a:r>
              <a:rPr lang="en-US" sz="135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04-04-2025</a:t>
            </a:r>
            <a:endParaRPr/>
          </a:p>
        </p:txBody>
      </p:sp>
      <p:sp>
        <p:nvSpPr>
          <p:cNvPr id="89" name="Google Shape;89;p13"/>
          <p:cNvSpPr txBox="1"/>
          <p:nvPr/>
        </p:nvSpPr>
        <p:spPr>
          <a:xfrm>
            <a:off x="571500" y="4134742"/>
            <a:ext cx="5286375" cy="8228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Propuesta de diseño y arquitectura Big Data en Google Cloud Platform para el análisis y disponibilización de datos de viajes de taxis en la ciudad de Nueva York.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4" name="Google Shape;94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5" name="Google Shape;95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34125" y="1957387"/>
            <a:ext cx="5286375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4"/>
          <p:cNvSpPr txBox="1"/>
          <p:nvPr/>
        </p:nvSpPr>
        <p:spPr>
          <a:xfrm>
            <a:off x="714375" y="1956435"/>
            <a:ext cx="95250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97" name="Google Shape;97;p14"/>
          <p:cNvSpPr txBox="1"/>
          <p:nvPr/>
        </p:nvSpPr>
        <p:spPr>
          <a:xfrm>
            <a:off x="809625" y="1957387"/>
            <a:ext cx="5048250" cy="8228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25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Objetivo Principal:</a:t>
            </a:r>
            <a:r>
              <a:rPr lang="en-US" sz="135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Diseñar una plataforma capaz de disponibilizar información estructurada a los residentes de Nueva York.</a:t>
            </a:r>
            <a:endParaRPr/>
          </a:p>
        </p:txBody>
      </p:sp>
      <p:sp>
        <p:nvSpPr>
          <p:cNvPr id="98" name="Google Shape;98;p14"/>
          <p:cNvSpPr txBox="1"/>
          <p:nvPr/>
        </p:nvSpPr>
        <p:spPr>
          <a:xfrm>
            <a:off x="714375" y="2922180"/>
            <a:ext cx="95250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99" name="Google Shape;99;p14"/>
          <p:cNvSpPr txBox="1"/>
          <p:nvPr/>
        </p:nvSpPr>
        <p:spPr>
          <a:xfrm>
            <a:off x="809625" y="2923133"/>
            <a:ext cx="5048250" cy="548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25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Datos Clave:</a:t>
            </a:r>
            <a:r>
              <a:rPr lang="en-US" sz="135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Disponibilidad en tiempo real de taxis, horarios de mayor demanda y tarifas por zonas geográficas.</a:t>
            </a:r>
            <a:endParaRPr/>
          </a:p>
        </p:txBody>
      </p:sp>
      <p:sp>
        <p:nvSpPr>
          <p:cNvPr id="100" name="Google Shape;100;p14"/>
          <p:cNvSpPr txBox="1"/>
          <p:nvPr/>
        </p:nvSpPr>
        <p:spPr>
          <a:xfrm>
            <a:off x="714375" y="3613636"/>
            <a:ext cx="95250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01" name="Google Shape;101;p14"/>
          <p:cNvSpPr txBox="1"/>
          <p:nvPr/>
        </p:nvSpPr>
        <p:spPr>
          <a:xfrm>
            <a:off x="809625" y="3614588"/>
            <a:ext cx="5048250" cy="8228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25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El Desafío:</a:t>
            </a:r>
            <a:r>
              <a:rPr lang="en-US" sz="135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El volumen masivo de datos generados diariamente requiere una capacidad de almacenamiento y procesamiento superior.</a:t>
            </a:r>
            <a:endParaRPr/>
          </a:p>
        </p:txBody>
      </p:sp>
      <p:sp>
        <p:nvSpPr>
          <p:cNvPr id="102" name="Google Shape;102;p14"/>
          <p:cNvSpPr txBox="1"/>
          <p:nvPr/>
        </p:nvSpPr>
        <p:spPr>
          <a:xfrm>
            <a:off x="714375" y="4579381"/>
            <a:ext cx="95250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03" name="Google Shape;103;p14"/>
          <p:cNvSpPr txBox="1"/>
          <p:nvPr/>
        </p:nvSpPr>
        <p:spPr>
          <a:xfrm>
            <a:off x="809625" y="4580334"/>
            <a:ext cx="5048250" cy="8228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25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La Solución:</a:t>
            </a:r>
            <a:r>
              <a:rPr lang="en-US" sz="135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Implementar una arquitectura basada en procesamiento Batch utilizando los servicios escalables de Google Cloud Platform (GCP).</a:t>
            </a:r>
            <a:endParaRPr/>
          </a:p>
        </p:txBody>
      </p:sp>
      <p:pic>
        <p:nvPicPr>
          <p:cNvPr id="104" name="Google Shape;104;p1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43650" y="1966912"/>
            <a:ext cx="5267325" cy="3790950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4"/>
          <p:cNvSpPr txBox="1"/>
          <p:nvPr/>
        </p:nvSpPr>
        <p:spPr>
          <a:xfrm>
            <a:off x="571500" y="571500"/>
            <a:ext cx="11601450" cy="485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F8FAF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1. Introducción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" name="Google Shape;110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" name="Google Shape;111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062162"/>
            <a:ext cx="3429000" cy="36003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" name="Google Shape;112;p1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81500" y="2062162"/>
            <a:ext cx="3429000" cy="36003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13" name="Google Shape;113;p15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191500" y="2062162"/>
            <a:ext cx="3429000" cy="3600301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15"/>
          <p:cNvSpPr txBox="1"/>
          <p:nvPr/>
        </p:nvSpPr>
        <p:spPr>
          <a:xfrm>
            <a:off x="1635918" y="3252787"/>
            <a:ext cx="1300162" cy="361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50" b="1" i="0" u="none" strike="noStrike" cap="none">
                <a:solidFill>
                  <a:srgbClr val="F8FAF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Volumen</a:t>
            </a:r>
            <a:endParaRPr/>
          </a:p>
        </p:txBody>
      </p:sp>
      <p:sp>
        <p:nvSpPr>
          <p:cNvPr id="115" name="Google Shape;115;p15"/>
          <p:cNvSpPr txBox="1"/>
          <p:nvPr/>
        </p:nvSpPr>
        <p:spPr>
          <a:xfrm>
            <a:off x="866775" y="3757612"/>
            <a:ext cx="2838450" cy="13714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Cada día se efectúan cientos de miles de viajes en taxi en Nueva York, generando un volumen masivo de registros históricos que almacenar y consultar.</a:t>
            </a:r>
            <a:endParaRPr/>
          </a:p>
        </p:txBody>
      </p:sp>
      <p:sp>
        <p:nvSpPr>
          <p:cNvPr id="116" name="Google Shape;116;p15"/>
          <p:cNvSpPr txBox="1"/>
          <p:nvPr/>
        </p:nvSpPr>
        <p:spPr>
          <a:xfrm>
            <a:off x="5350906" y="3252787"/>
            <a:ext cx="1490186" cy="361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50" b="1" i="0" u="none" strike="noStrike" cap="none">
                <a:solidFill>
                  <a:srgbClr val="F8FAF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Velocidad</a:t>
            </a:r>
            <a:endParaRPr/>
          </a:p>
        </p:txBody>
      </p:sp>
      <p:sp>
        <p:nvSpPr>
          <p:cNvPr id="117" name="Google Shape;117;p15"/>
          <p:cNvSpPr txBox="1"/>
          <p:nvPr/>
        </p:nvSpPr>
        <p:spPr>
          <a:xfrm>
            <a:off x="4676775" y="3757612"/>
            <a:ext cx="2838450" cy="13714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Los datos se generan de forma rápida y continua a lo largo de las 24 horas, aumentando agresivamente el volumen de información por segundo.</a:t>
            </a:r>
            <a:endParaRPr/>
          </a:p>
        </p:txBody>
      </p:sp>
      <p:sp>
        <p:nvSpPr>
          <p:cNvPr id="118" name="Google Shape;118;p15"/>
          <p:cNvSpPr txBox="1"/>
          <p:nvPr/>
        </p:nvSpPr>
        <p:spPr>
          <a:xfrm>
            <a:off x="9250918" y="3252787"/>
            <a:ext cx="1310163" cy="361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50" b="1" i="0" u="none" strike="noStrike" cap="none">
                <a:solidFill>
                  <a:srgbClr val="F8FAF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Variedad</a:t>
            </a:r>
            <a:endParaRPr/>
          </a:p>
        </p:txBody>
      </p:sp>
      <p:sp>
        <p:nvSpPr>
          <p:cNvPr id="119" name="Google Shape;119;p15"/>
          <p:cNvSpPr txBox="1"/>
          <p:nvPr/>
        </p:nvSpPr>
        <p:spPr>
          <a:xfrm>
            <a:off x="8486775" y="3757612"/>
            <a:ext cx="2838450" cy="13714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Existe una inmensa variedad en los formatos y tipos de datos asociados a los viajes, demandando herramientas cloud altamente adaptables.</a:t>
            </a:r>
            <a:endParaRPr/>
          </a:p>
        </p:txBody>
      </p:sp>
      <p:pic>
        <p:nvPicPr>
          <p:cNvPr id="120" name="Google Shape;120;p15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2085975" y="2500312"/>
            <a:ext cx="40005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1" name="Google Shape;121;p15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5867400" y="2500312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2" name="Google Shape;122;p15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9677400" y="2500312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15"/>
          <p:cNvSpPr txBox="1"/>
          <p:nvPr/>
        </p:nvSpPr>
        <p:spPr>
          <a:xfrm>
            <a:off x="571500" y="571500"/>
            <a:ext cx="11601450" cy="485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F8FAF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2. Justificación: Proyecto Big Data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8" name="Google Shape;128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9" name="Google Shape;129;p1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1289893"/>
            <a:ext cx="11049000" cy="5145137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30" name="Google Shape;130;p16"/>
          <p:cNvGraphicFramePr/>
          <p:nvPr>
            <p:extLst>
              <p:ext uri="{D42A27DB-BD31-4B8C-83A1-F6EECF244321}">
                <p14:modId xmlns:p14="http://schemas.microsoft.com/office/powerpoint/2010/main" val="1026411001"/>
              </p:ext>
            </p:extLst>
          </p:nvPr>
        </p:nvGraphicFramePr>
        <p:xfrm>
          <a:off x="581025" y="1299418"/>
          <a:ext cx="11029950" cy="5126100"/>
        </p:xfrm>
        <a:graphic>
          <a:graphicData uri="http://schemas.openxmlformats.org/drawingml/2006/table">
            <a:tbl>
              <a:tblPr firstRow="1" bandRow="1">
                <a:noFill/>
                <a:tableStyleId>{FDD4B396-56EB-484C-B8F5-0F5581E8F6A3}</a:tableStyleId>
              </a:tblPr>
              <a:tblGrid>
                <a:gridCol w="26579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3720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8543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rgbClr val="F8FAFC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Fase del Proceso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rgbClr val="F8FAFC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Herramientas y Funcionalidad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543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>
                          <a:solidFill>
                            <a:schemeClr val="tx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Ingesta de datos</a:t>
                      </a:r>
                      <a:endParaRPr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>
                          <a:solidFill>
                            <a:schemeClr val="tx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Google Cloud Storage:</a:t>
                      </a:r>
                      <a:r>
                        <a:rPr lang="en-US" sz="1350" b="0" i="0" u="none" strike="noStrike" cap="none">
                          <a:solidFill>
                            <a:schemeClr val="tx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 Almacenamiento primario y escalable para los registros RAW de los viajes de taxi.</a:t>
                      </a:r>
                      <a:endParaRPr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543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>
                          <a:solidFill>
                            <a:schemeClr val="tx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Procesamiento Batch</a:t>
                      </a:r>
                      <a:endParaRPr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>
                          <a:solidFill>
                            <a:schemeClr val="tx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Cloud Dataproc (Apache Spark):</a:t>
                      </a:r>
                      <a:r>
                        <a:rPr lang="en-US" sz="1350" b="0" i="0" u="none" strike="noStrike" cap="none">
                          <a:solidFill>
                            <a:schemeClr val="tx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 Procesamiento distribuido y clusterizado de grandes volúmenes de datos.</a:t>
                      </a:r>
                      <a:endParaRPr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543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 dirty="0" err="1">
                          <a:solidFill>
                            <a:schemeClr val="tx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Transformación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>
                          <a:solidFill>
                            <a:schemeClr val="tx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PySpark:</a:t>
                      </a:r>
                      <a:r>
                        <a:rPr lang="en-US" sz="1350" b="0" i="0" u="none" strike="noStrike" cap="none">
                          <a:solidFill>
                            <a:schemeClr val="tx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 Programación para la limpieza, formateo e inserción de datos hacia la capa curada.</a:t>
                      </a:r>
                      <a:endParaRPr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543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 dirty="0" err="1">
                          <a:solidFill>
                            <a:schemeClr val="tx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Almacenamiento</a:t>
                      </a:r>
                      <a:r>
                        <a:rPr lang="en-US" sz="1350" b="1" i="0" u="none" strike="noStrike" cap="none" dirty="0">
                          <a:solidFill>
                            <a:schemeClr val="tx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 </a:t>
                      </a:r>
                      <a:r>
                        <a:rPr lang="en-US" sz="1350" b="1" i="0" u="none" strike="noStrike" cap="none" dirty="0" err="1">
                          <a:solidFill>
                            <a:schemeClr val="tx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Analítico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>
                          <a:solidFill>
                            <a:schemeClr val="tx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BigQuery:</a:t>
                      </a:r>
                      <a:r>
                        <a:rPr lang="en-US" sz="1350" b="0" i="0" u="none" strike="noStrike" cap="none">
                          <a:solidFill>
                            <a:schemeClr val="tx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 Data warehouse serverless para ejecutar consultas analíticas de ultra alto rendimiento.</a:t>
                      </a:r>
                      <a:endParaRPr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8543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 dirty="0" err="1">
                          <a:solidFill>
                            <a:schemeClr val="tx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Visualización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 dirty="0">
                          <a:solidFill>
                            <a:schemeClr val="tx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Looker Studio:</a:t>
                      </a:r>
                      <a:r>
                        <a:rPr lang="en-US" sz="1350" b="0" i="0" u="none" strike="noStrike" cap="none" dirty="0">
                          <a:solidFill>
                            <a:schemeClr val="tx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 </a:t>
                      </a:r>
                      <a:r>
                        <a:rPr lang="en-US" sz="1350" b="0" i="0" u="none" strike="noStrike" cap="none" dirty="0" err="1">
                          <a:solidFill>
                            <a:schemeClr val="tx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Creación</a:t>
                      </a:r>
                      <a:r>
                        <a:rPr lang="en-US" sz="1350" b="0" i="0" u="none" strike="noStrike" cap="none" dirty="0">
                          <a:solidFill>
                            <a:schemeClr val="tx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 de dashboards </a:t>
                      </a:r>
                      <a:r>
                        <a:rPr lang="en-US" sz="1350" b="0" i="0" u="none" strike="noStrike" cap="none" dirty="0" err="1">
                          <a:solidFill>
                            <a:schemeClr val="tx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interactivos</a:t>
                      </a:r>
                      <a:r>
                        <a:rPr lang="en-US" sz="1350" b="0" i="0" u="none" strike="noStrike" cap="none" dirty="0">
                          <a:solidFill>
                            <a:schemeClr val="tx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 para un </a:t>
                      </a:r>
                      <a:r>
                        <a:rPr lang="en-US" sz="1350" b="0" i="0" u="none" strike="noStrike" cap="none" dirty="0" err="1">
                          <a:solidFill>
                            <a:schemeClr val="tx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consumo</a:t>
                      </a:r>
                      <a:r>
                        <a:rPr lang="en-US" sz="1350" b="0" i="0" u="none" strike="noStrike" cap="none" dirty="0">
                          <a:solidFill>
                            <a:schemeClr val="tx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 de </a:t>
                      </a:r>
                      <a:r>
                        <a:rPr lang="en-US" sz="1350" b="0" i="0" u="none" strike="noStrike" cap="none" dirty="0" err="1">
                          <a:solidFill>
                            <a:schemeClr val="tx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información</a:t>
                      </a:r>
                      <a:r>
                        <a:rPr lang="en-US" sz="1350" b="0" i="0" u="none" strike="noStrike" cap="none" dirty="0">
                          <a:solidFill>
                            <a:schemeClr val="tx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 </a:t>
                      </a:r>
                      <a:r>
                        <a:rPr lang="en-US" sz="1350" b="0" i="0" u="none" strike="noStrike" cap="none" dirty="0" err="1">
                          <a:solidFill>
                            <a:schemeClr val="tx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amigable</a:t>
                      </a:r>
                      <a:r>
                        <a:rPr lang="en-US" sz="1350" b="0" i="0" u="none" strike="noStrike" cap="none" dirty="0">
                          <a:solidFill>
                            <a:schemeClr val="tx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.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41" name="Google Shape;141;p16"/>
          <p:cNvSpPr txBox="1"/>
          <p:nvPr/>
        </p:nvSpPr>
        <p:spPr>
          <a:xfrm>
            <a:off x="571500" y="423118"/>
            <a:ext cx="11601450" cy="485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F8FAF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3. Herramientas Google Cloud Platform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6" name="Google Shape;146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p17"/>
          <p:cNvSpPr/>
          <p:nvPr/>
        </p:nvSpPr>
        <p:spPr>
          <a:xfrm>
            <a:off x="571500" y="4081462"/>
            <a:ext cx="11049000" cy="38100"/>
          </a:xfrm>
          <a:prstGeom prst="rect">
            <a:avLst/>
          </a:prstGeom>
          <a:solidFill>
            <a:srgbClr val="47556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17"/>
          <p:cNvSpPr txBox="1"/>
          <p:nvPr/>
        </p:nvSpPr>
        <p:spPr>
          <a:xfrm>
            <a:off x="507968" y="4433887"/>
            <a:ext cx="2668302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38BDF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1. Captura</a:t>
            </a:r>
            <a:endParaRPr/>
          </a:p>
        </p:txBody>
      </p:sp>
      <p:sp>
        <p:nvSpPr>
          <p:cNvPr id="149" name="Google Shape;149;p17"/>
          <p:cNvSpPr txBox="1"/>
          <p:nvPr/>
        </p:nvSpPr>
        <p:spPr>
          <a:xfrm>
            <a:off x="571500" y="4843462"/>
            <a:ext cx="2541240" cy="1097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Los datos en formato crudo (RAW) son absorbidos y guardados de forma segura en Google Cloud Storage.</a:t>
            </a:r>
            <a:endParaRPr/>
          </a:p>
        </p:txBody>
      </p:sp>
      <p:sp>
        <p:nvSpPr>
          <p:cNvPr id="150" name="Google Shape;150;p17"/>
          <p:cNvSpPr txBox="1"/>
          <p:nvPr/>
        </p:nvSpPr>
        <p:spPr>
          <a:xfrm>
            <a:off x="3343888" y="2117526"/>
            <a:ext cx="2668302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38BDF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2. Almacenamiento</a:t>
            </a:r>
            <a:endParaRPr/>
          </a:p>
        </p:txBody>
      </p:sp>
      <p:sp>
        <p:nvSpPr>
          <p:cNvPr id="151" name="Google Shape;151;p17"/>
          <p:cNvSpPr txBox="1"/>
          <p:nvPr/>
        </p:nvSpPr>
        <p:spPr>
          <a:xfrm>
            <a:off x="3407419" y="2527101"/>
            <a:ext cx="2541240" cy="1097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Organización inteligente por particiones de fecha y aseguramiento riguroso de accesos mediante Cloud IAM.</a:t>
            </a:r>
            <a:endParaRPr/>
          </a:p>
        </p:txBody>
      </p:sp>
      <p:sp>
        <p:nvSpPr>
          <p:cNvPr id="152" name="Google Shape;152;p17"/>
          <p:cNvSpPr txBox="1"/>
          <p:nvPr/>
        </p:nvSpPr>
        <p:spPr>
          <a:xfrm>
            <a:off x="6179808" y="4433887"/>
            <a:ext cx="2668302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38BDF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3. Procesamiento</a:t>
            </a:r>
            <a:endParaRPr/>
          </a:p>
        </p:txBody>
      </p:sp>
      <p:sp>
        <p:nvSpPr>
          <p:cNvPr id="153" name="Google Shape;153;p17"/>
          <p:cNvSpPr txBox="1"/>
          <p:nvPr/>
        </p:nvSpPr>
        <p:spPr>
          <a:xfrm>
            <a:off x="6243339" y="4843462"/>
            <a:ext cx="2541240" cy="1097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Tratamiento con Dataproc Spark. Se filtran, procesan y eliminan todos los registros duplicados o corruptos.</a:t>
            </a:r>
            <a:endParaRPr/>
          </a:p>
        </p:txBody>
      </p:sp>
      <p:sp>
        <p:nvSpPr>
          <p:cNvPr id="154" name="Google Shape;154;p17"/>
          <p:cNvSpPr txBox="1"/>
          <p:nvPr/>
        </p:nvSpPr>
        <p:spPr>
          <a:xfrm>
            <a:off x="9015728" y="2117526"/>
            <a:ext cx="2668302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38BDF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4. Consumo</a:t>
            </a:r>
            <a:endParaRPr/>
          </a:p>
        </p:txBody>
      </p:sp>
      <p:sp>
        <p:nvSpPr>
          <p:cNvPr id="155" name="Google Shape;155;p17"/>
          <p:cNvSpPr txBox="1"/>
          <p:nvPr/>
        </p:nvSpPr>
        <p:spPr>
          <a:xfrm>
            <a:off x="9079259" y="2527101"/>
            <a:ext cx="2541240" cy="1097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Almacenamiento final de la capa curada en BigQuery y distribución gobernada de dashboards vía Looker Studio.</a:t>
            </a:r>
            <a:endParaRPr/>
          </a:p>
        </p:txBody>
      </p:sp>
      <p:sp>
        <p:nvSpPr>
          <p:cNvPr id="156" name="Google Shape;156;p17"/>
          <p:cNvSpPr/>
          <p:nvPr/>
        </p:nvSpPr>
        <p:spPr>
          <a:xfrm>
            <a:off x="1727820" y="3986212"/>
            <a:ext cx="228600" cy="228600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 w="38100" cap="flat" cmpd="sng">
            <a:solidFill>
              <a:srgbClr val="38BDF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17"/>
          <p:cNvSpPr/>
          <p:nvPr/>
        </p:nvSpPr>
        <p:spPr>
          <a:xfrm>
            <a:off x="4563740" y="3986212"/>
            <a:ext cx="228600" cy="228600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 w="38100" cap="flat" cmpd="sng">
            <a:solidFill>
              <a:srgbClr val="38BDF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17"/>
          <p:cNvSpPr/>
          <p:nvPr/>
        </p:nvSpPr>
        <p:spPr>
          <a:xfrm>
            <a:off x="7399659" y="3986212"/>
            <a:ext cx="228600" cy="228600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 w="38100" cap="flat" cmpd="sng">
            <a:solidFill>
              <a:srgbClr val="38BDF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17"/>
          <p:cNvSpPr/>
          <p:nvPr/>
        </p:nvSpPr>
        <p:spPr>
          <a:xfrm>
            <a:off x="10235579" y="3986212"/>
            <a:ext cx="228600" cy="228600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 w="38100" cap="flat" cmpd="sng">
            <a:solidFill>
              <a:srgbClr val="38BDF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17"/>
          <p:cNvSpPr txBox="1"/>
          <p:nvPr/>
        </p:nvSpPr>
        <p:spPr>
          <a:xfrm>
            <a:off x="571500" y="571500"/>
            <a:ext cx="11601450" cy="485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F8FAF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4.1. Ciclo de Vida de los Datos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5" name="Google Shape;165;p1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p18"/>
          <p:cNvSpPr/>
          <p:nvPr/>
        </p:nvSpPr>
        <p:spPr>
          <a:xfrm>
            <a:off x="1571625" y="1203126"/>
            <a:ext cx="9048750" cy="1043880"/>
          </a:xfrm>
          <a:prstGeom prst="roundRect">
            <a:avLst>
              <a:gd name="adj" fmla="val 10949"/>
            </a:avLst>
          </a:prstGeom>
          <a:solidFill>
            <a:srgbClr val="334155"/>
          </a:solidFill>
          <a:ln w="9525" cap="flat" cmpd="sng">
            <a:solidFill>
              <a:srgbClr val="47556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18"/>
          <p:cNvSpPr txBox="1"/>
          <p:nvPr/>
        </p:nvSpPr>
        <p:spPr>
          <a:xfrm>
            <a:off x="2190750" y="1441251"/>
            <a:ext cx="8191500" cy="5676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Control de acceso IAM:</a:t>
            </a:r>
            <a:r>
              <a:rPr lang="en-US" sz="135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Implementación de políticas de acceso estricto y de menor privilegio para asegurar que solo los usuarios autorizados interactúen con la plataforma.</a:t>
            </a:r>
            <a:endParaRPr/>
          </a:p>
        </p:txBody>
      </p:sp>
      <p:sp>
        <p:nvSpPr>
          <p:cNvPr id="168" name="Google Shape;168;p18"/>
          <p:cNvSpPr/>
          <p:nvPr/>
        </p:nvSpPr>
        <p:spPr>
          <a:xfrm>
            <a:off x="1571625" y="2532757"/>
            <a:ext cx="9048750" cy="1043880"/>
          </a:xfrm>
          <a:prstGeom prst="roundRect">
            <a:avLst>
              <a:gd name="adj" fmla="val 10949"/>
            </a:avLst>
          </a:prstGeom>
          <a:solidFill>
            <a:srgbClr val="334155"/>
          </a:solidFill>
          <a:ln w="9525" cap="flat" cmpd="sng">
            <a:solidFill>
              <a:srgbClr val="47556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18"/>
          <p:cNvSpPr txBox="1"/>
          <p:nvPr/>
        </p:nvSpPr>
        <p:spPr>
          <a:xfrm>
            <a:off x="2190750" y="2770882"/>
            <a:ext cx="8191500" cy="5676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Calidad de datos:</a:t>
            </a:r>
            <a:r>
              <a:rPr lang="en-US" sz="135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Limpieza proactiva y validación algorítmica durante el procesamiento en Dataproc para asegurar que la capa curada contenga información 100% confiable.</a:t>
            </a:r>
            <a:endParaRPr/>
          </a:p>
        </p:txBody>
      </p:sp>
      <p:sp>
        <p:nvSpPr>
          <p:cNvPr id="170" name="Google Shape;170;p18"/>
          <p:cNvSpPr/>
          <p:nvPr/>
        </p:nvSpPr>
        <p:spPr>
          <a:xfrm>
            <a:off x="1571625" y="3862387"/>
            <a:ext cx="9048750" cy="1043880"/>
          </a:xfrm>
          <a:prstGeom prst="roundRect">
            <a:avLst>
              <a:gd name="adj" fmla="val 10949"/>
            </a:avLst>
          </a:prstGeom>
          <a:solidFill>
            <a:srgbClr val="334155"/>
          </a:solidFill>
          <a:ln w="9525" cap="flat" cmpd="sng">
            <a:solidFill>
              <a:srgbClr val="47556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18"/>
          <p:cNvSpPr txBox="1"/>
          <p:nvPr/>
        </p:nvSpPr>
        <p:spPr>
          <a:xfrm>
            <a:off x="2190750" y="4100512"/>
            <a:ext cx="8191500" cy="5676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Versionado:</a:t>
            </a:r>
            <a:r>
              <a:rPr lang="en-US" sz="135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Mantenimiento de versiones en conjuntos de datos y scripts de transformación para asegurar trazabilidad, recuperación ante desastres y auditorías precisas.</a:t>
            </a:r>
            <a:endParaRPr/>
          </a:p>
        </p:txBody>
      </p:sp>
      <p:sp>
        <p:nvSpPr>
          <p:cNvPr id="172" name="Google Shape;172;p18"/>
          <p:cNvSpPr/>
          <p:nvPr/>
        </p:nvSpPr>
        <p:spPr>
          <a:xfrm>
            <a:off x="1571625" y="5192017"/>
            <a:ext cx="9048750" cy="1043880"/>
          </a:xfrm>
          <a:prstGeom prst="roundRect">
            <a:avLst>
              <a:gd name="adj" fmla="val 10949"/>
            </a:avLst>
          </a:prstGeom>
          <a:solidFill>
            <a:srgbClr val="334155"/>
          </a:solidFill>
          <a:ln w="9525" cap="flat" cmpd="sng">
            <a:solidFill>
              <a:srgbClr val="47556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18"/>
          <p:cNvSpPr txBox="1"/>
          <p:nvPr/>
        </p:nvSpPr>
        <p:spPr>
          <a:xfrm>
            <a:off x="2190750" y="5430142"/>
            <a:ext cx="8191500" cy="5676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Catalogación de datasets:</a:t>
            </a:r>
            <a:r>
              <a:rPr lang="en-US" sz="135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Uso intensivo de catálogos y metadatos organizados dentro de BigQuery para facilitar el descubrimiento y la democratización de la información.</a:t>
            </a:r>
            <a:endParaRPr/>
          </a:p>
        </p:txBody>
      </p:sp>
      <p:sp>
        <p:nvSpPr>
          <p:cNvPr id="174" name="Google Shape;174;p18"/>
          <p:cNvSpPr/>
          <p:nvPr/>
        </p:nvSpPr>
        <p:spPr>
          <a:xfrm>
            <a:off x="1571625" y="2237482"/>
            <a:ext cx="9048750" cy="9525"/>
          </a:xfrm>
          <a:prstGeom prst="rect">
            <a:avLst/>
          </a:prstGeom>
          <a:solidFill>
            <a:srgbClr val="47556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18"/>
          <p:cNvSpPr/>
          <p:nvPr/>
        </p:nvSpPr>
        <p:spPr>
          <a:xfrm>
            <a:off x="1571625" y="3567112"/>
            <a:ext cx="9048750" cy="9525"/>
          </a:xfrm>
          <a:prstGeom prst="rect">
            <a:avLst/>
          </a:prstGeom>
          <a:solidFill>
            <a:srgbClr val="47556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18"/>
          <p:cNvSpPr/>
          <p:nvPr/>
        </p:nvSpPr>
        <p:spPr>
          <a:xfrm>
            <a:off x="1571625" y="4896742"/>
            <a:ext cx="9048750" cy="9525"/>
          </a:xfrm>
          <a:prstGeom prst="rect">
            <a:avLst/>
          </a:prstGeom>
          <a:solidFill>
            <a:srgbClr val="47556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18"/>
          <p:cNvSpPr/>
          <p:nvPr/>
        </p:nvSpPr>
        <p:spPr>
          <a:xfrm>
            <a:off x="1571625" y="6226373"/>
            <a:ext cx="9048750" cy="9525"/>
          </a:xfrm>
          <a:prstGeom prst="rect">
            <a:avLst/>
          </a:prstGeom>
          <a:solidFill>
            <a:srgbClr val="47556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78" name="Google Shape;178;p1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771650" y="1446014"/>
            <a:ext cx="247650" cy="257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9" name="Google Shape;179;p18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771650" y="2775644"/>
            <a:ext cx="219075" cy="257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0" name="Google Shape;180;p18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771650" y="4105275"/>
            <a:ext cx="219075" cy="257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1" name="Google Shape;181;p18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771650" y="5434905"/>
            <a:ext cx="276225" cy="257175"/>
          </a:xfrm>
          <a:prstGeom prst="rect">
            <a:avLst/>
          </a:prstGeom>
          <a:noFill/>
          <a:ln>
            <a:noFill/>
          </a:ln>
        </p:spPr>
      </p:pic>
      <p:sp>
        <p:nvSpPr>
          <p:cNvPr id="182" name="Google Shape;182;p18"/>
          <p:cNvSpPr txBox="1"/>
          <p:nvPr/>
        </p:nvSpPr>
        <p:spPr>
          <a:xfrm>
            <a:off x="571500" y="336351"/>
            <a:ext cx="11601450" cy="485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F8FAF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4.2. Prácticas de Gobierno de Datos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7" name="Google Shape;187;p1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88" name="Google Shape;188;p19"/>
          <p:cNvSpPr txBox="1"/>
          <p:nvPr/>
        </p:nvSpPr>
        <p:spPr>
          <a:xfrm>
            <a:off x="571500" y="571500"/>
            <a:ext cx="5550693" cy="485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F8FAF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5. Arquitectura Batch</a:t>
            </a:r>
            <a:endParaRPr/>
          </a:p>
        </p:txBody>
      </p:sp>
      <p:pic>
        <p:nvPicPr>
          <p:cNvPr id="189" name="Google Shape;189;p1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34125" y="0"/>
            <a:ext cx="585787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90" name="Google Shape;190;p19"/>
          <p:cNvSpPr txBox="1"/>
          <p:nvPr/>
        </p:nvSpPr>
        <p:spPr>
          <a:xfrm>
            <a:off x="571500" y="2145059"/>
            <a:ext cx="5550693" cy="361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50" b="1" i="0" u="none" strike="noStrike" cap="none">
                <a:solidFill>
                  <a:srgbClr val="F8FAF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Flujo de Procesamiento</a:t>
            </a:r>
            <a:endParaRPr/>
          </a:p>
        </p:txBody>
      </p:sp>
      <p:sp>
        <p:nvSpPr>
          <p:cNvPr id="191" name="Google Shape;191;p19"/>
          <p:cNvSpPr txBox="1"/>
          <p:nvPr/>
        </p:nvSpPr>
        <p:spPr>
          <a:xfrm>
            <a:off x="571500" y="2649884"/>
            <a:ext cx="5286375" cy="548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La arquitectura seleccionada asegura ingerir, procesar y servir grandes volúmenes de datos eficientemente.</a:t>
            </a:r>
            <a:endParaRPr/>
          </a:p>
        </p:txBody>
      </p:sp>
      <p:sp>
        <p:nvSpPr>
          <p:cNvPr id="192" name="Google Shape;192;p19"/>
          <p:cNvSpPr txBox="1"/>
          <p:nvPr/>
        </p:nvSpPr>
        <p:spPr>
          <a:xfrm>
            <a:off x="714375" y="3483262"/>
            <a:ext cx="95250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93" name="Google Shape;193;p19"/>
          <p:cNvSpPr txBox="1"/>
          <p:nvPr/>
        </p:nvSpPr>
        <p:spPr>
          <a:xfrm>
            <a:off x="809625" y="3484215"/>
            <a:ext cx="5048250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25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Fuente:</a:t>
            </a:r>
            <a:r>
              <a:rPr lang="en-US" sz="135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Datos crudos de los Taxis.</a:t>
            </a:r>
            <a:endParaRPr/>
          </a:p>
        </p:txBody>
      </p:sp>
      <p:sp>
        <p:nvSpPr>
          <p:cNvPr id="194" name="Google Shape;194;p19"/>
          <p:cNvSpPr txBox="1"/>
          <p:nvPr/>
        </p:nvSpPr>
        <p:spPr>
          <a:xfrm>
            <a:off x="714375" y="3871852"/>
            <a:ext cx="95250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95" name="Google Shape;195;p19"/>
          <p:cNvSpPr txBox="1"/>
          <p:nvPr/>
        </p:nvSpPr>
        <p:spPr>
          <a:xfrm>
            <a:off x="809625" y="3872805"/>
            <a:ext cx="5048250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25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Storage RAW:</a:t>
            </a:r>
            <a:r>
              <a:rPr lang="en-US" sz="135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Google Cloud Storage.</a:t>
            </a:r>
            <a:endParaRPr/>
          </a:p>
        </p:txBody>
      </p:sp>
      <p:sp>
        <p:nvSpPr>
          <p:cNvPr id="196" name="Google Shape;196;p19"/>
          <p:cNvSpPr txBox="1"/>
          <p:nvPr/>
        </p:nvSpPr>
        <p:spPr>
          <a:xfrm>
            <a:off x="714375" y="4260443"/>
            <a:ext cx="95250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97" name="Google Shape;197;p19"/>
          <p:cNvSpPr txBox="1"/>
          <p:nvPr/>
        </p:nvSpPr>
        <p:spPr>
          <a:xfrm>
            <a:off x="809625" y="4261395"/>
            <a:ext cx="5048250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25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Procesamiento:</a:t>
            </a:r>
            <a:r>
              <a:rPr lang="en-US" sz="135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Dataproc Spark Batch.</a:t>
            </a:r>
            <a:endParaRPr/>
          </a:p>
        </p:txBody>
      </p:sp>
      <p:sp>
        <p:nvSpPr>
          <p:cNvPr id="198" name="Google Shape;198;p19"/>
          <p:cNvSpPr txBox="1"/>
          <p:nvPr/>
        </p:nvSpPr>
        <p:spPr>
          <a:xfrm>
            <a:off x="714375" y="4649033"/>
            <a:ext cx="95250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99" name="Google Shape;199;p19"/>
          <p:cNvSpPr txBox="1"/>
          <p:nvPr/>
        </p:nvSpPr>
        <p:spPr>
          <a:xfrm>
            <a:off x="809625" y="4649985"/>
            <a:ext cx="5048250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25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Almacenamiento:</a:t>
            </a:r>
            <a:r>
              <a:rPr lang="en-US" sz="135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BigQuery.</a:t>
            </a:r>
            <a:endParaRPr/>
          </a:p>
        </p:txBody>
      </p:sp>
      <p:sp>
        <p:nvSpPr>
          <p:cNvPr id="200" name="Google Shape;200;p19"/>
          <p:cNvSpPr txBox="1"/>
          <p:nvPr/>
        </p:nvSpPr>
        <p:spPr>
          <a:xfrm>
            <a:off x="714375" y="5037623"/>
            <a:ext cx="95250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201" name="Google Shape;201;p19"/>
          <p:cNvSpPr txBox="1"/>
          <p:nvPr/>
        </p:nvSpPr>
        <p:spPr>
          <a:xfrm>
            <a:off x="809625" y="5038576"/>
            <a:ext cx="5048250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25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Visualización:</a:t>
            </a:r>
            <a:r>
              <a:rPr lang="en-US" sz="135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Looker Studio.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6" name="Google Shape;206;p2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07" name="Google Shape;207;p20"/>
          <p:cNvSpPr txBox="1"/>
          <p:nvPr/>
        </p:nvSpPr>
        <p:spPr>
          <a:xfrm>
            <a:off x="1345406" y="1697533"/>
            <a:ext cx="9501187" cy="847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250" b="1" i="0" u="none" strike="noStrike" cap="none">
                <a:solidFill>
                  <a:srgbClr val="F8FAF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Conclusión</a:t>
            </a:r>
            <a:endParaRPr/>
          </a:p>
        </p:txBody>
      </p:sp>
      <p:sp>
        <p:nvSpPr>
          <p:cNvPr id="208" name="Google Shape;208;p20"/>
          <p:cNvSpPr txBox="1"/>
          <p:nvPr/>
        </p:nvSpPr>
        <p:spPr>
          <a:xfrm>
            <a:off x="1571625" y="2783383"/>
            <a:ext cx="9048750" cy="23770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La solución propuesta utiliza una robusta arquitectura Big Data Batch con herramientas cloud-native de GCP para analizar históricamente los viajes en taxi de Nueva York. Este enfoque garantiza total escalabilidad, procesamiento distribuido y analítica visual, cumpliendo con las exigencias del negocio y aplicando de forma intrínseca los pilares del gobierno de datos.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625</Words>
  <Application>Microsoft Office PowerPoint</Application>
  <PresentationFormat>Panorámica</PresentationFormat>
  <Paragraphs>62</Paragraphs>
  <Slides>8</Slides>
  <Notes>8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8</vt:i4>
      </vt:variant>
    </vt:vector>
  </HeadingPairs>
  <TitlesOfParts>
    <vt:vector size="13" baseType="lpstr">
      <vt:lpstr>Plus Jakarta Sans</vt:lpstr>
      <vt:lpstr>Calibri</vt:lpstr>
      <vt:lpstr>Inter</vt:lpstr>
      <vt:lpstr>Arial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Diego Quioza</cp:lastModifiedBy>
  <cp:revision>1</cp:revision>
  <dcterms:modified xsi:type="dcterms:W3CDTF">2026-04-09T00:22:20Z</dcterms:modified>
</cp:coreProperties>
</file>